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x="121793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 Redis 加分项，四个点按顺序讲：一、容器化，跟 MySQL 一样用 docker run 拉起，只引入 spring-boot-starter-data-redis，不引入 Redisson 等额外组件；二、会话，JWT 本身无法注销，登录时把 Token 写到 Redis auth:token:{userId}，登出删 Key 旧 Token 立刻 401，同账号新登录顶掉旧会话，实现单点在线；三、缓存一致性，只缓存看板和教室列表两类高频数据，TTL 60 秒，写操作后 SCAN 批量清 Key，实测冷 37ms 热 17ms；四、降级，redis.enable 一键开关，RedisCache 所有操作 try-catch，Redis 挂掉时三态校验退化为纯 JWT，业务不阻断。强调用途严格限定在需求文档 145 行两处，没有上分布式锁、消息队列。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3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3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0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2783F590-05B9-4D5C-8A1D-ABC8E00331F8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13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5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ECBCB137-C05D-4890-A7B4-5EB0DCDE281E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4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true" i="false" strike="noStrike" u="none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0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4" id="4"/>
          <p:cNvSpPr/>
          <p:nvPr>
            <p:ph idx="18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20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BCD29D08-E8F1-45FD-9326-0DD0A7B20BC4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 marL="698500" indent="-355600">
              <a:lnSpc>
                <a:spcPct val="100000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 marL="698500" indent="-355600">
              <a:lnSpc>
                <a:spcPct val="100000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6" id="6"/>
          <p:cNvSpPr/>
          <p:nvPr>
            <p:ph idx="25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26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914FEE0F-BA1D-482D-BA19-28FE9F4BB3A0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4" id="4"/>
          <p:cNvSpPr/>
          <p:nvPr>
            <p:ph idx="29" type="body" sz="quarter" hasCustomPrompt="true"/>
          </p:nvPr>
        </p:nvSpPr>
        <p:spPr>
          <a:xfrm rot="0" flipH="false" flipV="false"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 marL="647700" indent="-304800">
              <a:lnSpc>
                <a:spcPct val="100000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6" id="6"/>
          <p:cNvSpPr/>
          <p:nvPr>
            <p:ph idx="31" type="body" sz="quarter" hasCustomPrompt="true"/>
          </p:nvPr>
        </p:nvSpPr>
        <p:spPr>
          <a:xfrm rot="0" flipH="false" flipV="false"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 marL="647700" indent="-304800">
              <a:lnSpc>
                <a:spcPct val="100000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7" id="7"/>
          <p:cNvSpPr/>
          <p:nvPr>
            <p:ph idx="32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9" id="9"/>
          <p:cNvSpPr/>
          <p:nvPr>
            <p:ph idx="34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995A309E-440E-4964-85AC-46167FB08725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36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4" id="4"/>
          <p:cNvSpPr/>
          <p:nvPr>
            <p:ph idx="37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5" id="5"/>
          <p:cNvSpPr/>
          <p:nvPr>
            <p:ph idx="38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EF229CD7-299C-4134-8AAA-C5C116D7F888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3" id="3"/>
          <p:cNvSpPr/>
          <p:nvPr>
            <p:ph idx="40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41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AF4C0549-0871-4EC4-A61A-1C0CDFBC6F52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body" sz="quarter" hasCustomPrompt="true"/>
          </p:nvPr>
        </p:nvSpPr>
        <p:spPr>
          <a:xfrm rot="0" flipH="false" flipV="false"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44" type="body" sz="quarter" hasCustomPrompt="true"/>
          </p:nvPr>
        </p:nvSpPr>
        <p:spPr>
          <a:xfrm rot="0" flipH="false" flipV="false"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6" id="6"/>
          <p:cNvSpPr/>
          <p:nvPr>
            <p:ph idx="46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74BA5DC7-BBA3-4A89-8120-85B0FBC5C8F4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49" type="pic" sz="quarter"/>
          </p:nvPr>
        </p:nvSpPr>
        <p:spPr>
          <a:xfrm rot="0" flipH="false" flipV="false"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6" id="6"/>
          <p:cNvSpPr/>
          <p:nvPr>
            <p:ph idx="52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53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7B86F3B2-8C03-4B3D-8758-2BFB5731BA1A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56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58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9A4FC18D-286C-4526-98E1-5B77DFD62FCB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 hasCustomPrompt="true"/>
          </p:nvPr>
        </p:nvSpPr>
        <p:spPr>
          <a:xfrm rot="0" flipH="false" flipV="false"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eaVert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60" type="body" sz="quarter" hasCustomPrompt="true"/>
          </p:nvPr>
        </p:nvSpPr>
        <p:spPr>
          <a:xfrm rot="0" flipH="false" flipV="false"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61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5" id="5"/>
          <p:cNvSpPr/>
          <p:nvPr>
            <p:ph idx="62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63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531F3DDA-E05B-4CCE-BAB0-3AD4FA3F0388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2" id="2"/>
          <p:cNvSpPr/>
          <p:nvPr>
            <p:ph idx="2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5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0BF89D68-705E-46FB-86F5-EC9D757C1CEF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6858000"/>
          </a:xfrm>
          <a:prstGeom prst="rect">
            <a:avLst/>
          </a:prstGeom>
          <a:solidFill>
            <a:srgbClr val="0A254A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6309360"/>
            <a:ext cx="12191695" cy="548640"/>
          </a:xfrm>
          <a:prstGeom prst="rect">
            <a:avLst/>
          </a:prstGeom>
          <a:solidFill>
            <a:srgbClr val="0D47A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617720"/>
            <a:ext cx="12191695" cy="45720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97280" y="1051560"/>
            <a:ext cx="100584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实训项目答辩 · 高校实验室预约管理系统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97280" y="1691640"/>
            <a:ext cx="10241280" cy="2011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基于双重校验机制的高校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1000"/>
              </a:spcAft>
            </a:pPr>
            <a:r>
              <a:rPr lang="en-US" b="true" i="false" strike="noStrike" u="none" sz="4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实验室预约管理系统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97280" y="3383280"/>
            <a:ext cx="100584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80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从资源管理工具到智能化资源调度服务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97280" y="4937760"/>
            <a:ext cx="100584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40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汇报人：________    指导老师：________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97280" y="5394960"/>
            <a:ext cx="100584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3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R8 答辩准备交付 · 2026-09-12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oundRect">
            <a:avLst>
              <a:gd name="adj" fmla="val 0"/>
            </a:avLst>
          </a:prstGeom>
          <a:solidFill>
            <a:srgbClr val="0A25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CONTENTS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31520" y="1371600"/>
            <a:ext cx="475488" cy="475488"/>
          </a:xfrm>
          <a:prstGeom prst="ellipse">
            <a:avLst/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2960" y="1426464"/>
            <a:ext cx="320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71600" y="1417320"/>
            <a:ext cx="475488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02 项目背景与痛点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1520" y="2157984"/>
            <a:ext cx="475488" cy="475488"/>
          </a:xfrm>
          <a:prstGeom prst="ellipse">
            <a:avLst/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2960" y="2212848"/>
            <a:ext cx="320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71600" y="2203704"/>
            <a:ext cx="475488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03 技术选型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31520" y="2944368"/>
            <a:ext cx="475488" cy="475488"/>
          </a:xfrm>
          <a:prstGeom prst="ellipse">
            <a:avLst/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2960" y="2999232"/>
            <a:ext cx="320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371600" y="2990088"/>
            <a:ext cx="475488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04 总体架构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31520" y="3730752"/>
            <a:ext cx="475488" cy="475488"/>
          </a:xfrm>
          <a:prstGeom prst="ellipse">
            <a:avLst/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2960" y="3785616"/>
            <a:ext cx="320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371600" y="3776472"/>
            <a:ext cx="475488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05 功能模块：13 页业务闭环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1520" y="4517136"/>
            <a:ext cx="475488" cy="475488"/>
          </a:xfrm>
          <a:prstGeom prst="ellipse">
            <a:avLst/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2960" y="4572000"/>
            <a:ext cx="320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06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371600" y="4562856"/>
            <a:ext cx="475488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06 核心亮点一：前后端双重冲突校验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1520" y="5303520"/>
            <a:ext cx="475488" cy="475488"/>
          </a:xfrm>
          <a:prstGeom prst="ellipse">
            <a:avLst/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2960" y="5358384"/>
            <a:ext cx="320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07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371600" y="5349240"/>
            <a:ext cx="475488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07 核心亮点二：AI 模块与降级容错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09359" y="1371600"/>
            <a:ext cx="475488" cy="475488"/>
          </a:xfrm>
          <a:prstGeom prst="ellipse">
            <a:avLst/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00799" y="1426464"/>
            <a:ext cx="32004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08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949439" y="1417320"/>
            <a:ext cx="4754880" cy="4114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08 AI 接入与实测说明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309359" y="2157984"/>
            <a:ext cx="475488" cy="475488"/>
          </a:xfrm>
          <a:prstGeom prst="ellipse">
            <a:avLst/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00799" y="2212848"/>
            <a:ext cx="32004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09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949439" y="2203704"/>
            <a:ext cx="4754880" cy="4114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09 Redis 加分项：会话与缓存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09359" y="2944368"/>
            <a:ext cx="475488" cy="475488"/>
          </a:xfrm>
          <a:prstGeom prst="ellipse">
            <a:avLst/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400799" y="2999232"/>
            <a:ext cx="32004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10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949439" y="2990088"/>
            <a:ext cx="4754880" cy="4114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10 关键设计决策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309359" y="3730752"/>
            <a:ext cx="475488" cy="475488"/>
          </a:xfrm>
          <a:prstGeom prst="ellipse">
            <a:avLst/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400799" y="3785616"/>
            <a:ext cx="32004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11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949439" y="3776472"/>
            <a:ext cx="4754880" cy="4114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11 页面展示：学生端 / 管理端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309359" y="4517136"/>
            <a:ext cx="475488" cy="475488"/>
          </a:xfrm>
          <a:prstGeom prst="ellipse">
            <a:avLst/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400799" y="4572000"/>
            <a:ext cx="32004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12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949439" y="4562856"/>
            <a:ext cx="4754880" cy="4114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12 测试与质量保障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309359" y="5303520"/>
            <a:ext cx="475488" cy="475488"/>
          </a:xfrm>
          <a:prstGeom prst="ellipse">
            <a:avLst/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400799" y="5358384"/>
            <a:ext cx="32004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13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6949439" y="5349240"/>
            <a:ext cx="4754880" cy="41148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13 总结与展望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ect">
            <a:avLst/>
          </a:prstGeom>
          <a:solidFill>
            <a:srgbClr val="0A254A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项目背景与痛点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2920" y="1143000"/>
            <a:ext cx="1124712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7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高校实验室/教室预约管理现状痛点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2920" y="1645920"/>
            <a:ext cx="5440680" cy="105156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2920" y="1645920"/>
            <a:ext cx="64008" cy="1051560"/>
          </a:xfrm>
          <a:prstGeom prst="rect">
            <a:avLst/>
          </a:prstGeom>
          <a:solidFill>
            <a:srgbClr val="C62828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04088" y="1755648"/>
            <a:ext cx="50749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C62828"/>
                </a:solidFill>
                <a:latin typeface="微软雅黑"/>
                <a:ea typeface="微软雅黑"/>
                <a:cs typeface="微软雅黑"/>
                <a:sym typeface="微软雅黑"/>
              </a:rPr>
              <a:t>人工登记协调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04088" y="2066544"/>
            <a:ext cx="5056632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口头/纸质登记，靠人工查重，冲突靠经验判断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17920" y="1645920"/>
            <a:ext cx="5440680" cy="105156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17920" y="1645920"/>
            <a:ext cx="64008" cy="1051560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9088" y="1755648"/>
            <a:ext cx="50749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F57C00"/>
                </a:solidFill>
                <a:latin typeface="微软雅黑"/>
                <a:ea typeface="微软雅黑"/>
                <a:cs typeface="微软雅黑"/>
                <a:sym typeface="微软雅黑"/>
              </a:rPr>
              <a:t>资源利用率低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19088" y="2066544"/>
            <a:ext cx="5056632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空闲信息不透明，热门教室扎堆、冷门教室闲置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2920" y="2880360"/>
            <a:ext cx="5440680" cy="105156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2920" y="2880360"/>
            <a:ext cx="64008" cy="1051560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04088" y="2990088"/>
            <a:ext cx="50749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F57C00"/>
                </a:solidFill>
                <a:latin typeface="微软雅黑"/>
                <a:ea typeface="微软雅黑"/>
                <a:cs typeface="微软雅黑"/>
                <a:sym typeface="微软雅黑"/>
              </a:rPr>
              <a:t>审核无辅助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4088" y="3300984"/>
            <a:ext cx="5056632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管理员逐条人工核验用途，漏审风险高、效率低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17920" y="2880360"/>
            <a:ext cx="5440680" cy="105156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17920" y="2880360"/>
            <a:ext cx="64008" cy="1051560"/>
          </a:xfrm>
          <a:prstGeom prst="rect">
            <a:avLst/>
          </a:prstGeom>
          <a:solidFill>
            <a:srgbClr val="556B7E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19088" y="2990088"/>
            <a:ext cx="50749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体验割裂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19088" y="3300984"/>
            <a:ext cx="5056632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学生与管理端流程割裂，状态不可追踪、无数据反馈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2920" y="4434840"/>
            <a:ext cx="11201400" cy="82296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77240" y="4590288"/>
            <a:ext cx="1078992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1F6FEB"/>
                </a:solidFill>
                <a:latin typeface="微软雅黑"/>
                <a:ea typeface="微软雅黑"/>
                <a:cs typeface="微软雅黑"/>
                <a:sym typeface="微软雅黑"/>
              </a:rPr>
              <a:t>立意拔高：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400"/>
              </a:spcAft>
            </a:pPr>
            <a:r>
              <a:rPr lang="en-US" b="true" i="false" strike="noStrike" u="none" sz="15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本项目不止于“预约登记工具”，而是面向高校资源调度的智能化服务——以双重校验保障资源公平，以 AI 辅助提升调度效率与决策质量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02920" y="5486400"/>
            <a:ext cx="112471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3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核心命题：如何用一套低成本、可落地、可复用的方案，让教室资源预约“公平、透明、高效、智能”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ect">
            <a:avLst/>
          </a:prstGeom>
          <a:solidFill>
            <a:srgbClr val="0A254A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技术选型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版本选型话术：LTS 免费、生态成熟、前后端分离、可容器化交付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2920" y="1188720"/>
            <a:ext cx="1417320" cy="86868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0080" y="1435608"/>
            <a:ext cx="118872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后端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11680" y="1188720"/>
            <a:ext cx="4480560" cy="868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76272" y="1271016"/>
            <a:ext cx="420624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JDK 21 LTS + Spring Boot 3.2.10 + MyBatis-Plus 3.5.7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83680" y="1188720"/>
            <a:ext cx="5120640" cy="868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48272" y="1271016"/>
            <a:ext cx="484632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LTS 免费长期维护；Spring Boot 3 生态成熟；MP 免写单表 CRUD，分页/条件构造内置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2920" y="2176272"/>
            <a:ext cx="1417320" cy="86868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0080" y="2423160"/>
            <a:ext cx="118872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前端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011680" y="2176272"/>
            <a:ext cx="4480560" cy="868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176272" y="2258568"/>
            <a:ext cx="420624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Vue 3.4 + Vite 5 + Element Plus 2.7.8 + ECharts 5.5 + FullCalendar 6.1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83680" y="2176272"/>
            <a:ext cx="5120640" cy="868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48272" y="2258568"/>
            <a:ext cx="484632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组合式 API 更易维护；Vite 冷启动秒级；Element Plus 组件成熟；图表/日历开箱即用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920" y="3163824"/>
            <a:ext cx="1417320" cy="86868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0080" y="3410712"/>
            <a:ext cx="118872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数据库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011680" y="3163824"/>
            <a:ext cx="4480560" cy="868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176272" y="3246120"/>
            <a:ext cx="420624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MySQL 8.0（Docker 容器化，utf8mb4）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83680" y="3163824"/>
            <a:ext cx="5120640" cy="868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748272" y="3246120"/>
            <a:ext cx="484632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稳定免费；utf8mb4 全中文支持；容器化便于环境复现与基线重置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02920" y="4151376"/>
            <a:ext cx="1417320" cy="86868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0080" y="4398264"/>
            <a:ext cx="118872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AI 能力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011680" y="4151376"/>
            <a:ext cx="4480560" cy="868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2176272" y="4233672"/>
            <a:ext cx="420624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Agnes AI agnes-2.0-flash（OpenAI v1 兼容，HTTP 调用）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583680" y="4151376"/>
            <a:ext cx="5120640" cy="868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748272" y="4233672"/>
            <a:ext cx="484632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轻量场景化接入成本低；OpenAI 兼容格式通用可替换；配合本地规则降级引擎双保险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02920" y="5138928"/>
            <a:ext cx="1417320" cy="86868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0080" y="5385816"/>
            <a:ext cx="118872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工程配套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2011680" y="5138928"/>
            <a:ext cx="4480560" cy="868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2176272" y="5221224"/>
            <a:ext cx="420624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Maven 3.9 / npm 8 / Git（GitHub 远程）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583680" y="5138928"/>
            <a:ext cx="5120640" cy="868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748272" y="5221224"/>
            <a:ext cx="484632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构建与版本管理规范，轮次增量可审计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oundRect">
            <a:avLst>
              <a:gd name="adj" fmla="val 0"/>
            </a:avLst>
          </a:prstGeom>
          <a:solidFill>
            <a:srgbClr val="0A25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总体架构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前后端分离 · 四层结构 · AI 低耦合可降级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2920" y="1234440"/>
            <a:ext cx="7863840" cy="102412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2920" y="1234440"/>
            <a:ext cx="1508760" cy="1024128"/>
          </a:xfrm>
          <a:prstGeom prst="roundRect">
            <a:avLst>
              <a:gd name="adj" fmla="val 0"/>
            </a:avLst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4360" y="1563624"/>
            <a:ext cx="13716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展示层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94560" y="1344168"/>
            <a:ext cx="603504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Vue 3 + Element Plus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200"/>
              </a:spcAft>
            </a:pPr>
            <a:r>
              <a:rPr lang="en-US" b="false" i="false" strike="noStrike" u="none" sz="14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13 页业务页面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2920" y="2404872"/>
            <a:ext cx="7863840" cy="102412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2920" y="2404872"/>
            <a:ext cx="1508760" cy="1024128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94360" y="2734056"/>
            <a:ext cx="13716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控制层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194560" y="2514600"/>
            <a:ext cx="6035040" cy="8229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Spring MVC · RESTful 36 接口</a:t>
            </a:r>
            <a:r>
              <a:rPr lang="en-US" b="false" i="false" strike="noStrike" u="none" sz="14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200"/>
              </a:spcAft>
            </a:pPr>
            <a:r>
              <a:rPr lang="en-US" b="false" i="false" strike="noStrike" u="none" sz="14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统一 Result 返回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2920" y="3575304"/>
            <a:ext cx="7863840" cy="102412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2920" y="3575304"/>
            <a:ext cx="1508760" cy="1024128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94360" y="3904488"/>
            <a:ext cx="13716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业务层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194560" y="3685032"/>
            <a:ext cx="603504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Service 业务规则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200"/>
              </a:spcAft>
            </a:pPr>
            <a:r>
              <a:rPr lang="en-US" b="false" i="false" strike="noStrike" u="none" sz="14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状态机流转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920" y="4745736"/>
            <a:ext cx="7863840" cy="102412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2920" y="4745736"/>
            <a:ext cx="1508760" cy="1024128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94360" y="5074920"/>
            <a:ext cx="13716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194560" y="4855464"/>
            <a:ext cx="603504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MyBatis-Plus · MySQL 8.0（Docker）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200"/>
              </a:spcAft>
            </a:pPr>
            <a:r>
              <a:rPr lang="en-US" b="false" i="false" strike="noStrike" u="none" sz="14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五表：用户/教室/预约/收藏/AI 配置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686800" y="1234440"/>
            <a:ext cx="3017520" cy="1024128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869680" y="1371600"/>
            <a:ext cx="269748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横切关注点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869680" y="1691640"/>
            <a:ext cx="2697480" cy="5486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JWT + Redis 会话 · 统一返回</a:t>
            </a: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全局异常 · 权限矩阵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686800" y="2560320"/>
            <a:ext cx="3017520" cy="102412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57C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869680" y="2697480"/>
            <a:ext cx="269748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50">
                <a:solidFill>
                  <a:srgbClr val="F57C00"/>
                </a:solidFill>
                <a:latin typeface="微软雅黑"/>
                <a:ea typeface="微软雅黑"/>
                <a:cs typeface="微软雅黑"/>
                <a:sym typeface="微软雅黑"/>
              </a:rPr>
              <a:t>AI 能力模块（低耦合）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869680" y="3017520"/>
            <a:ext cx="26974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4 只读接口 · 双开关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规则模拟降级引擎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686800" y="3794760"/>
            <a:ext cx="30175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外部依赖：Agnes AI（OpenAI v1 兼容）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686800" y="4114800"/>
            <a:ext cx="301752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100">
                <a:solidFill>
                  <a:srgbClr val="C62828"/>
                </a:solidFill>
                <a:latin typeface="微软雅黑"/>
                <a:ea typeface="微软雅黑"/>
                <a:cs typeface="微软雅黑"/>
                <a:sym typeface="微软雅黑"/>
              </a:rPr>
              <a:t>失败/限流/无密钥 → 自动降级，核心系统零影响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02920" y="5943600"/>
            <a:ext cx="11201400" cy="566928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31520" y="6053328"/>
            <a:ext cx="10789920" cy="36576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2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工程事实：</a:t>
            </a:r>
            <a:r>
              <a:rPr lang="en-US" b="false" i="false" strike="noStrike" u="none" sz="125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400"/>
              </a:spcAft>
            </a:pPr>
            <a:r>
              <a:rPr lang="en-US" b="false" i="false" strike="noStrike" u="none" sz="12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13 页闭环 · 36 个接口（32 业务 + 4 AI 只读）· 五表 · 密码 BCrypt · JWT 登录 + 拦截器权限矩阵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ect">
            <a:avLst/>
          </a:prstGeom>
          <a:solidFill>
            <a:srgbClr val="0A254A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功能模块：13 页业务闭环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公共 2 页 + 学生端 5 页 + 管理端 6 页，另含 4 处 AI 交互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2920" y="1280160"/>
            <a:ext cx="3611880" cy="4297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2920" y="1280160"/>
            <a:ext cx="3611880" cy="457200"/>
          </a:xfrm>
          <a:prstGeom prst="rect">
            <a:avLst/>
          </a:prstGeom>
          <a:solidFill>
            <a:srgbClr val="1F6FEB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85800" y="1353312"/>
            <a:ext cx="329184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公共功能（2 页）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1520" y="1874519"/>
            <a:ext cx="3200400" cy="3566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900"/>
              </a:spcAft>
              <a:defRPr/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双角色登录 + 学生注册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登录温和提醒（即将开始的预约）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297680" y="1280160"/>
            <a:ext cx="3611880" cy="4297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297680" y="1280160"/>
            <a:ext cx="3611880" cy="457200"/>
          </a:xfrm>
          <a:prstGeom prst="rect">
            <a:avLst/>
          </a:prstGeom>
          <a:solidFill>
            <a:srgbClr val="2E7D32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80560" y="1353312"/>
            <a:ext cx="329184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学生端（5 页）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26280" y="1874519"/>
            <a:ext cx="3200400" cy="3566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900"/>
              </a:spcAft>
              <a:defRPr/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教室列表：多条件筛选/实时状态/条件记忆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教室详情：时段占用/收藏/预约申请</a:t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我的预约：状态分类/取消/今日置顶</a:t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个人中心：数据概览/常用教室/消息通知</a:t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日历总览：月周视图/点击快速预约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92440" y="1280160"/>
            <a:ext cx="3611880" cy="429768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92440" y="1280160"/>
            <a:ext cx="3611880" cy="457200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75320" y="1353312"/>
            <a:ext cx="329184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管理端（6 页）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21040" y="1874519"/>
            <a:ext cx="3200400" cy="3566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900"/>
              </a:spcAft>
              <a:defRPr/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后台首页：数据概览卡片/快捷入口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教室资源管理：CRUD/状态/批量</a:t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预约审核：通过/驳回/批量/快捷原因</a:t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用户管理：查询/禁用启用/重置密码</a:t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预约记录：多条件筛选/Excel 导出</a:t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00">
                <a:solidFill>
                  <a:srgbClr val="3A4655"/>
                </a:solidFill>
                <a:latin typeface="微软雅黑"/>
                <a:ea typeface="微软雅黑"/>
                <a:cs typeface="微软雅黑"/>
                <a:sym typeface="微软雅黑"/>
              </a:rPr>
              <a:t>▪ 数据看板：ECharts 三图表联动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920" y="5715000"/>
            <a:ext cx="11201400" cy="77724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31520" y="5852160"/>
            <a:ext cx="1078992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1F6FEB"/>
                </a:solidFill>
                <a:latin typeface="微软雅黑"/>
                <a:ea typeface="微软雅黑"/>
                <a:cs typeface="微软雅黑"/>
                <a:sym typeface="微软雅黑"/>
              </a:rPr>
              <a:t>AI 交互：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400"/>
              </a:spcAft>
            </a:pPr>
            <a:r>
              <a:rPr lang="en-US" b="fals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学生端 3 处（智能推荐 Top3 / 自然语言快速预约 / 全局悬浮助手）+ 管理端 1 处（审核页 AI 合规校验标签）——AI 只读不写，最终操作权始终在人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ect">
            <a:avLst/>
          </a:prstGeom>
          <a:solidFill>
            <a:srgbClr val="0A254A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核心亮点一：前后端双重冲突校验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2920" y="1188720"/>
            <a:ext cx="5440680" cy="2286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2920" y="1188720"/>
            <a:ext cx="5440680" cy="457200"/>
          </a:xfrm>
          <a:prstGeom prst="rect">
            <a:avLst/>
          </a:prstGeom>
          <a:solidFill>
            <a:srgbClr val="1F6FEB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5800" y="1261872"/>
            <a:ext cx="50292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前端实时校验（第一道）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1520" y="1783080"/>
            <a:ext cx="502920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选择日期时段即调 /api/reservation/conflict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▪ 重叠判定：新开始 &lt; 旧结束 且 新结束 &gt; 旧开始</a:t>
            </a:r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冲突 → 红色提示 + 提交按钮禁用，输入即反馈</a:t>
            </a:r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▪ 实测：A201 教室 15:30-16:30 命中 15:00-17:00 已通过预约，实时拦截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17920" y="1188720"/>
            <a:ext cx="5440680" cy="2286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17920" y="1188720"/>
            <a:ext cx="5440680" cy="457200"/>
          </a:xfrm>
          <a:prstGeom prst="rect">
            <a:avLst/>
          </a:prstGeom>
          <a:solidFill>
            <a:srgbClr val="0D47A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00800" y="1261872"/>
            <a:ext cx="50292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后端兜底校验（第二道）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46520" y="1783080"/>
            <a:ext cx="502920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提交接口内事务校验，防绕过前端直调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与已通过(status=1)记录按公式再查一次库</a:t>
            </a:r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冲突 → 业务异常拒绝，前端展示服务端消息</a:t>
            </a:r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▪ 前后端公式一致，双重保障数据一致性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2920" y="3749039"/>
            <a:ext cx="11201400" cy="237744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77240" y="3931920"/>
            <a:ext cx="1069848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500">
                <a:solidFill>
                  <a:srgbClr val="1F6FEB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为什么是“双重”？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77240" y="4343400"/>
            <a:ext cx="10698480" cy="1645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700"/>
              </a:spcAft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前端校验保证用户体验：选择即反馈，避免提交后才发现冲突；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700"/>
              </a:spcAft>
            </a:pPr>
            <a:r>
              <a:rPr lang="en-US" b="false" i="false" strike="noStrike" u="none" sz="13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后端校验保证业务正确：接口层兜底，任何绕过前端的请求都被拒绝；</a:t>
            </a:r>
          </a:p>
          <a:p>
            <a:pPr algn="l" marL="0" indent="0" defTabSz="457200">
              <a:lnSpc>
                <a:spcPct val="100000"/>
              </a:lnSpc>
              <a:spcAft>
                <a:spcPts val="700"/>
              </a:spcAft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▪ 工程配套：预约状态机 0 待审核/1 已通过/2 已驳回/3 已取消；取消时限 = 开始前 1 小时；批量审核仅限待审核。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ect">
            <a:avLst/>
          </a:prstGeom>
          <a:solidFill>
            <a:srgbClr val="0A254A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07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核心亮点二：AI 模块与降级容错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AI 只读不写 · 双开关 · 规则模拟降级 · 场景绝对限定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2920" y="1234440"/>
            <a:ext cx="2651760" cy="1143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2920" y="1234440"/>
            <a:ext cx="2651760" cy="73152"/>
          </a:xfrm>
          <a:prstGeom prst="rect">
            <a:avLst/>
          </a:prstGeom>
          <a:solidFill>
            <a:srgbClr val="1F6FEB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7512" y="1389888"/>
            <a:ext cx="23774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智能推荐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7512" y="1691640"/>
            <a:ext cx="237744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8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历史习惯 + 实时空闲 → Top3 教室及理由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55848" y="1234440"/>
            <a:ext cx="2651760" cy="1143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55848" y="1234440"/>
            <a:ext cx="2651760" cy="73152"/>
          </a:xfrm>
          <a:prstGeom prst="rect">
            <a:avLst/>
          </a:prstGeom>
          <a:solidFill>
            <a:srgbClr val="1F6FEB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20440" y="1389888"/>
            <a:ext cx="23774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快速预约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520440" y="1691640"/>
            <a:ext cx="237744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8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自然语言 → 结构化参数预填（可手动修改）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08776" y="1234440"/>
            <a:ext cx="2651760" cy="1143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08776" y="1234440"/>
            <a:ext cx="2651760" cy="73152"/>
          </a:xfrm>
          <a:prstGeom prst="rect">
            <a:avLst/>
          </a:prstGeom>
          <a:solidFill>
            <a:srgbClr val="1F6FEB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73368" y="1389888"/>
            <a:ext cx="23774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合规校验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73368" y="1691640"/>
            <a:ext cx="237744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8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用途关键词 → 通过/违规标签（只提示）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61704" y="1234440"/>
            <a:ext cx="2651760" cy="1143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61704" y="1234440"/>
            <a:ext cx="2651760" cy="73152"/>
          </a:xfrm>
          <a:prstGeom prst="rect">
            <a:avLst/>
          </a:prstGeom>
          <a:solidFill>
            <a:srgbClr val="1F6FEB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226296" y="1389888"/>
            <a:ext cx="23774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预约助手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226296" y="1691640"/>
            <a:ext cx="237744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8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场景限定问答，无关问题预设话术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2920" y="2606040"/>
            <a:ext cx="2743200" cy="196596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85800" y="2724912"/>
            <a:ext cx="23774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双开关设计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85800" y="3035808"/>
            <a:ext cx="242316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yml ai.enable
AND
db ai_config.ai_enable
任一为 false 即关闭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一键可插拔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429000" y="2606040"/>
            <a:ext cx="4206240" cy="196596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611880" y="2724912"/>
            <a:ext cx="384048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降级容错引擎（演示主路径）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611880" y="3035808"/>
            <a:ext cx="393192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500"/>
              </a:spcAft>
              <a:defRPr/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推荐→规则打分 · 解析→正则模板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500"/>
              </a:spcAft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合规→关键词库 · 问答→FAQ 命中</a:t>
            </a:r>
          </a:p>
          <a:p>
            <a:pPr algn="l" marL="0" indent="0" defTabSz="457200">
              <a:lnSpc>
                <a:spcPct val="100000"/>
              </a:lnSpc>
              <a:spcAft>
                <a:spcPts val="500"/>
              </a:spcAft>
            </a:pPr>
            <a:r>
              <a:rPr lang="en-US" b="true" i="false" strike="noStrike" u="none" sz="1150">
                <a:solidFill>
                  <a:srgbClr val="C62828"/>
                </a:solidFill>
                <a:latin typeface="微软雅黑"/>
                <a:ea typeface="微软雅黑"/>
                <a:cs typeface="微软雅黑"/>
                <a:sym typeface="微软雅黑"/>
              </a:rPr>
              <a:t>超时/报错/限流/无密钥 → 自动降级，HTTP 200 输出可用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818120" y="2606040"/>
            <a:ext cx="3886200" cy="196596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001000" y="2724912"/>
            <a:ext cx="35661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场景限定 + 只读不写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001000" y="3035808"/>
            <a:ext cx="361188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500"/>
              </a:spcAft>
              <a:defRPr/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只答预约/教室/个人记录相关问题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500"/>
              </a:spcAft>
            </a:pPr>
            <a:r>
              <a:rPr lang="en-US" b="false" i="false" strike="noStrike" u="none" sz="115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所有 AI 输出标注「AI 生成，仅供参考」</a:t>
            </a:r>
          </a:p>
          <a:p>
            <a:pPr algn="l" marL="0" indent="0" defTabSz="457200">
              <a:lnSpc>
                <a:spcPct val="100000"/>
              </a:lnSpc>
              <a:spcAft>
                <a:spcPts val="500"/>
              </a:spcAft>
            </a:pPr>
            <a:r>
              <a:rPr lang="en-US" b="true" i="false" strike="noStrike" u="none" sz="11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业务操作必须用户手动确认，AI 绝不代提交</a:t>
            </a:r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02920" y="4800600"/>
            <a:ext cx="11201400" cy="16002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77240" y="4937760"/>
            <a:ext cx="1069848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1F6FEB"/>
                </a:solidFill>
                <a:latin typeface="微软雅黑"/>
                <a:ea typeface="微软雅黑"/>
                <a:cs typeface="微软雅黑"/>
                <a:sym typeface="微软雅黑"/>
              </a:rPr>
              <a:t>演示口径（压轴：先业务闭环，再 AI 收尾）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77240" y="5349240"/>
            <a:ext cx="10698480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无密钥/限流时：规则模拟降级照常演示（即主路径），真实链路已单独实测验证——双保险、零翻车；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违规演示：临时改用途命中违规关键词 → 红色「AI 校验：违规」标签，只提示不改状态；</a:t>
            </a:r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一键关闭：ai.enable=false → 完全退化纯预约系统，核心业务零影响（可插拔）。</a:t>
            </a:r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ect">
            <a:avLst/>
          </a:prstGeom>
          <a:solidFill>
            <a:srgbClr val="0A254A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08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AI 接入与实测说明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真实链路已验证 · 免费档限流自动降级 · 密钥零硬编码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2920" y="1234440"/>
            <a:ext cx="5486400" cy="27432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2920" y="1234440"/>
            <a:ext cx="5486400" cy="457200"/>
          </a:xfrm>
          <a:prstGeom prst="rect">
            <a:avLst/>
          </a:prstGeom>
          <a:solidFill>
            <a:srgbClr val="2E7D32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85800" y="1307592"/>
            <a:ext cx="50292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真实接入链路（OpenAI v1 兼容）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1520" y="1828800"/>
            <a:ext cx="5029200" cy="2011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700"/>
              </a:spcAft>
              <a:defRPr/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base-url / Bearer 认证 / 模型名 / 请求格式均按 OpenAI v1 标准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700"/>
              </a:spcAft>
            </a:pPr>
            <a:r>
              <a:rPr lang="en-US" b="true" i="false" strike="noStrike" u="none" sz="12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▪ 请求真实送达 Agnes 服务器并收到官方响应</a:t>
            </a:r>
          </a:p>
          <a:p>
            <a:pPr algn="l" marL="0" indent="0" defTabSz="457200">
              <a:lnSpc>
                <a:spcPct val="100000"/>
              </a:lnSpc>
              <a:spcAft>
                <a:spcPts val="7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ping 探活 200、解析接口 200 且 JSON 结构正确</a:t>
            </a:r>
          </a:p>
          <a:p>
            <a:pPr algn="l" marL="0" indent="0" defTabSz="457200">
              <a:lnSpc>
                <a:spcPct val="100000"/>
              </a:lnSpc>
              <a:spcAft>
                <a:spcPts val="700"/>
              </a:spcAft>
            </a:pPr>
            <a:r>
              <a:rPr lang="en-US" b="true" i="false" strike="noStrike" u="none" sz="1250">
                <a:solidFill>
                  <a:srgbClr val="2E7D32"/>
                </a:solidFill>
                <a:latin typeface="微软雅黑"/>
                <a:ea typeface="微软雅黑"/>
                <a:cs typeface="微软雅黑"/>
                <a:sym typeface="微软雅黑"/>
              </a:rPr>
              <a:t>▪ 链路上行正确性已实测确认，作为技术亮点写入报告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17920" y="1234440"/>
            <a:ext cx="5440680" cy="27432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17920" y="1234440"/>
            <a:ext cx="5440680" cy="457200"/>
          </a:xfrm>
          <a:prstGeom prst="rect">
            <a:avLst/>
          </a:prstGeom>
          <a:solidFill>
            <a:srgbClr val="F57C0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00800" y="1307592"/>
            <a:ext cx="50292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免费档限流（实测 429）与降级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46520" y="1828800"/>
            <a:ext cx="5029200" cy="2011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700"/>
              </a:spcAft>
              <a:defRPr/>
            </a:pPr>
            <a:r>
              <a:rPr lang="en-US" b="true" i="false" strike="noStrike" u="none" sz="1250">
                <a:solidFill>
                  <a:srgbClr val="C62828"/>
                </a:solidFill>
                <a:latin typeface="微软雅黑"/>
                <a:ea typeface="微软雅黑"/>
                <a:cs typeface="微软雅黑"/>
                <a:sym typeface="微软雅黑"/>
              </a:rPr>
              <a:t>▪ 免费档额度触达 rate limit（HTTP 429，提示升级）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7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触发 RPM≈20 限流保护，避免冲击第三方服务</a:t>
            </a:r>
          </a:p>
          <a:p>
            <a:pPr algn="l" marL="0" indent="0" defTabSz="457200">
              <a:lnSpc>
                <a:spcPct val="100000"/>
              </a:lnSpc>
              <a:spcAft>
                <a:spcPts val="7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自动切换本地规则模拟：输出可用、页面照常</a:t>
            </a:r>
          </a:p>
          <a:p>
            <a:pPr algn="l" marL="0" indent="0" defTabSz="457200">
              <a:lnSpc>
                <a:spcPct val="100000"/>
              </a:lnSpc>
              <a:spcAft>
                <a:spcPts val="700"/>
              </a:spcAft>
            </a:pPr>
            <a:r>
              <a:rPr lang="en-US" b="true" i="false" strike="noStrike" u="none" sz="12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▪ 口径：链路正确 + 限流极紧（单次/低频可用）+ 自动降级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2920" y="4206240"/>
            <a:ext cx="11201400" cy="1920240"/>
          </a:xfrm>
          <a:prstGeom prst="rect">
            <a:avLst/>
          </a:prstGeom>
          <a:solidFill>
            <a:srgbClr val="F2F6FC">
              <a:alpha val="100000"/>
            </a:srgbClr>
          </a:solidFill>
          <a:ln w="12700" cap="flat">
            <a:solidFill>
              <a:srgbClr val="D5E2F5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77240" y="4343400"/>
            <a:ext cx="1069848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工程红线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77240" y="4754880"/>
            <a:ext cx="10698480" cy="1280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700"/>
              </a:spcAft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密钥零硬编码：AGNES_API_KEY 仅环境变量注入，前端零接触密钥，交付物不出现密钥字样；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700"/>
              </a:spcAft>
            </a:pPr>
            <a:r>
              <a:rPr lang="en-US" b="false" i="false" strike="noStrike" u="none" sz="13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AI 绝对只读不写：4 接口均为查询/解析/建议，业务写入必须走原审核/预约链路；</a:t>
            </a:r>
          </a:p>
          <a:p>
            <a:pPr algn="l" marL="0" indent="0" defTabSz="457200">
              <a:lnSpc>
                <a:spcPct val="100000"/>
              </a:lnSpc>
              <a:spcAft>
                <a:spcPts val="700"/>
              </a:spcAft>
            </a:pPr>
            <a:r>
              <a:rPr lang="en-US" b="false" i="false" strike="noStrike" u="none" sz="13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降级不阻断：AI 任何异常都不影响核心预约业务，可观测（data.message 透出原因）。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oundRect">
            <a:avLst>
              <a:gd name="adj" fmla="val 0"/>
            </a:avLst>
          </a:prstGeom>
          <a:solidFill>
            <a:srgbClr val="0A25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09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Redis 加分项：会话与缓存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Docker 容器化 · 可注销会话 · 缓存一致性 · 故障自动降级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143000"/>
            <a:ext cx="53848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1143000"/>
            <a:ext cx="5384800" cy="355600"/>
          </a:xfrm>
          <a:prstGeom prst="roundRect">
            <a:avLst>
              <a:gd name="adj" fmla="val 0"/>
            </a:avLst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① Docker 容器化部署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1200" y="1600200"/>
            <a:ext cx="4978400" cy="14224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95833"/>
              </a:lnSpc>
              <a:spcAft>
                <a:spcPts val="600"/>
              </a:spcAft>
              <a:defRPr/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容器 reservation-redis（redis:7.0，6379）</a:t>
            </a: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 defTabSz="457200">
              <a:lnSpc>
                <a:spcPct val="95833"/>
              </a:lnSpc>
              <a:spcAft>
                <a:spcPts val="600"/>
              </a:spcAft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与 MySQL 一致，一条 docker run 拉起</a:t>
            </a: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95833"/>
              </a:lnSpc>
              <a:spcAft>
                <a:spcPts val="600"/>
              </a:spcAft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仅引入 spring-boot-starter-data-redis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99200" y="1143000"/>
            <a:ext cx="53848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99200" y="1143000"/>
            <a:ext cx="5384800" cy="3556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② 无状态 JWT → 可注销会话 / 单点在线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02400" y="1600200"/>
            <a:ext cx="4978400" cy="14224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95833"/>
              </a:lnSpc>
              <a:spcAft>
                <a:spcPts val="600"/>
              </a:spcAft>
              <a:defRPr/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登录写 auth:token:{userId}，TTL=JWT 24h</a:t>
            </a: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 defTabSz="457200">
              <a:lnSpc>
                <a:spcPct val="95833"/>
              </a:lnSpc>
              <a:spcAft>
                <a:spcPts val="600"/>
              </a:spcAft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登出删 Key → 旧 Token 立即 401</a:t>
            </a: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95833"/>
              </a:lnSpc>
              <a:spcAft>
                <a:spcPts val="600"/>
              </a:spcAft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同账号二次登录顶掉旧会话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" y="3327400"/>
            <a:ext cx="53848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" y="3327400"/>
            <a:ext cx="5384800" cy="3556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③ 缓存一致性（Cache-Aside 写后失效）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1200" y="3784600"/>
            <a:ext cx="4978400" cy="14224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95833"/>
              </a:lnSpc>
              <a:spcAft>
                <a:spcPts val="600"/>
              </a:spcAft>
              <a:defRPr/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看板 3 聚合接口 + 教室列表短缓存 60s</a:t>
            </a: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 defTabSz="457200">
              <a:lnSpc>
                <a:spcPct val="95833"/>
              </a:lnSpc>
              <a:spcAft>
                <a:spcPts val="600"/>
              </a:spcAft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写操作后 SCAN 批量清 Key，请求重建</a:t>
            </a: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95833"/>
              </a:lnSpc>
              <a:spcAft>
                <a:spcPts val="600"/>
              </a:spcAft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实测冷 37ms → 热 17ms，库/缓存一致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99200" y="3327400"/>
            <a:ext cx="53848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99200" y="3327400"/>
            <a:ext cx="5384800" cy="355600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④ 故障自动降级（非持久化依赖）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02400" y="3784600"/>
            <a:ext cx="4978400" cy="14224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95833"/>
              </a:lnSpc>
              <a:spcAft>
                <a:spcPts val="600"/>
              </a:spcAft>
              <a:defRPr/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redis.enable 开关 + RedisCache 全 try-catch</a:t>
            </a: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 defTabSz="457200">
              <a:lnSpc>
                <a:spcPct val="95833"/>
              </a:lnSpc>
              <a:spcAft>
                <a:spcPts val="600"/>
              </a:spcAft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三态校验 VALID / INVALID / SKIP</a:t>
            </a: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95833"/>
              </a:lnSpc>
              <a:spcAft>
                <a:spcPts val="600"/>
              </a:spcAft>
            </a:pPr>
            <a:r>
              <a:rPr lang="en-US" b="false" i="false" strike="noStrike" u="none" sz="11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· Redis 挂自动退纯 JWT，业务不阻断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5461000"/>
            <a:ext cx="11176000" cy="55880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1200" y="5549900"/>
            <a:ext cx="10769600" cy="3810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2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用途严格限定：</a:t>
            </a:r>
            <a:r>
              <a:rPr lang="en-US" b="false" i="false" strike="noStrike" u="none" sz="12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缓存热门教室数据 + 存储登录 Token（需求文档 2.2 第 145 行）｜Redis 只做加速与会话增强，绝不做持久化依赖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oundRect">
            <a:avLst>
              <a:gd name="adj" fmla="val 0"/>
            </a:avLst>
          </a:prstGeom>
          <a:solidFill>
            <a:srgbClr val="0A25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10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关键设计决策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可演进 · 可降级 · 可复现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4112000" y="75438000"/>
            <a:ext cx="5440680" cy="1371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4112000" y="75438000"/>
            <a:ext cx="64008" cy="1371600"/>
          </a:xfrm>
          <a:prstGeom prst="roundRect">
            <a:avLst>
              <a:gd name="adj" fmla="val 0"/>
            </a:avLst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47483647" y="2147483647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AI 接入 = 轻量场景化真实接入 + 规则模拟兜底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47483647" y="2147483647"/>
            <a:ext cx="507492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不为 AI 而 AI：先框定 4 个高价值场景，再接入轻量模型；大模型不可用时规则引擎保证能力可用，成本与风险可控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4112000" y="75438000"/>
            <a:ext cx="5440680" cy="1371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4112000" y="75438000"/>
            <a:ext cx="64008" cy="13716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147483647" y="2147483647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低耦合设计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147483647" y="2147483647"/>
            <a:ext cx="507492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AI 模块独立包结构 + 接口隔离；业务代码不感知 AI 存在，AI 失败不扩散——核心系统永远可用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34112000" y="75438000"/>
            <a:ext cx="5440680" cy="1371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34112000" y="75438000"/>
            <a:ext cx="64008" cy="1371600"/>
          </a:xfrm>
          <a:prstGeom prst="roundRect">
            <a:avLst>
              <a:gd name="adj" fmla="val 0"/>
            </a:avLst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147483647" y="2147483647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双开关可插拔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147483647" y="2147483647"/>
            <a:ext cx="507492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yml 静态开关 + 数据库动态开关（AND 关系）：演示/灰度/一键关闭纯业务模式，无需改代码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34112000" y="75438000"/>
            <a:ext cx="5440680" cy="1371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34112000" y="75438000"/>
            <a:ext cx="64008" cy="13716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147483647" y="2147483647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数据基线可复跑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147483647" y="2147483647"/>
            <a:ext cx="507492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五表初始基线固化（预约 13 四状态/教室 12/用户 5/收藏 6/AI 配置 5），演示测试可复跑、跑完恢复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34112000" y="75438000"/>
            <a:ext cx="5440680" cy="1371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34112000" y="75438000"/>
            <a:ext cx="64008" cy="1371600"/>
          </a:xfrm>
          <a:prstGeom prst="roundRect">
            <a:avLst>
              <a:gd name="adj" fmla="val 0"/>
            </a:avLst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147483647" y="2147483647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权限与安全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147483647" y="2147483647"/>
            <a:ext cx="507492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JWT 登录 + 拦截器权限矩阵；密码 BCrypt；统一 Result/全局异常；关键操作二次确认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34112000" y="75438000"/>
            <a:ext cx="5440680" cy="1371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34112000" y="75438000"/>
            <a:ext cx="64008" cy="13716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147483647" y="2147483647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前端体验优先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147483647" y="2147483647"/>
            <a:ext cx="507492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输入即校验（双重冲突第一道）、登录温和提醒、状态分类与今日置顶、看板联动反馈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oundRect">
            <a:avLst>
              <a:gd name="adj" fmla="val 0"/>
            </a:avLst>
          </a:prstGeom>
          <a:solidFill>
            <a:srgbClr val="0A25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11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页面展示（一）学生端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教室列表 + 详情预约 + 我的预约 + 日历总览 + AI 交互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4112000" y="75438000"/>
            <a:ext cx="5440680" cy="17830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4112000" y="75438000"/>
            <a:ext cx="1737360" cy="146304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47483647" y="2147483647"/>
            <a:ext cx="15544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示意截图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47483647" y="2147483647"/>
            <a:ext cx="3200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教室列表 + AI 为你推荐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147483647" y="2147483647"/>
            <a:ext cx="3200400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多条件筛选/实时状态标签；顶部 AI 推荐 Top3 卡片（含理由 +「AI 生成，仅供参考」）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4112000" y="75438000"/>
            <a:ext cx="5440680" cy="17830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4112000" y="75438000"/>
            <a:ext cx="1737360" cy="146304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147483647" y="2147483647"/>
            <a:ext cx="15544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示意截图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147483647" y="2147483647"/>
            <a:ext cx="3200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教室详情与预约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147483647" y="2147483647"/>
            <a:ext cx="3200400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时段占用可视化、收藏、预约申请；选择时段即触发前端冲突实时校验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34112000" y="75438000"/>
            <a:ext cx="5440680" cy="17830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34112000" y="75438000"/>
            <a:ext cx="1737360" cy="146304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147483647" y="2147483647"/>
            <a:ext cx="15544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示意截图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147483647" y="2147483647"/>
            <a:ext cx="3200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我的预约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147483647" y="2147483647"/>
            <a:ext cx="3200400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状态分类（今日置顶）、取消二次确认、开始前 1 小时限制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34112000" y="75438000"/>
            <a:ext cx="5440680" cy="17830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34112000" y="75438000"/>
            <a:ext cx="1737360" cy="146304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147483647" y="2147483647"/>
            <a:ext cx="15544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示意截图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147483647" y="2147483647"/>
            <a:ext cx="3200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日历总览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147483647" y="2147483647"/>
            <a:ext cx="3200400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FullCalendar 月/周视图，色块区分状态，点击日期直达快速预约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2920" y="5623560"/>
            <a:ext cx="112014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250">
                <a:solidFill>
                  <a:srgbClr val="1F6FEB"/>
                </a:solidFill>
                <a:latin typeface="微软雅黑"/>
                <a:ea typeface="微软雅黑"/>
                <a:cs typeface="微软雅黑"/>
                <a:sym typeface="微软雅黑"/>
              </a:rPr>
              <a:t>AI 交互：推荐卡点击直达详情 · 「AI 快速预约」自然语言解析预填 · 右下角悬浮「AI 预约助手」场景问答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oundRect">
            <a:avLst>
              <a:gd name="adj" fmla="val 0"/>
            </a:avLst>
          </a:prstGeom>
          <a:solidFill>
            <a:srgbClr val="0A25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11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页面展示（二）管理端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审核 + 数据看板 + 预约记录导出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4112000" y="75438000"/>
            <a:ext cx="5440680" cy="17830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4112000" y="75438000"/>
            <a:ext cx="1737360" cy="146304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47483647" y="2147483647"/>
            <a:ext cx="15544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示意截图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47483647" y="2147483647"/>
            <a:ext cx="3200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预约审核 + AI 合规校验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147483647" y="2147483647"/>
            <a:ext cx="3200400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通过/驳回/批量审核/快捷驳回原因；待审核记录带「AI 校验」标签（违规红色高亮+原因，只提示不改状态）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4112000" y="75438000"/>
            <a:ext cx="5440680" cy="17830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4112000" y="75438000"/>
            <a:ext cx="1737360" cy="146304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147483647" y="2147483647"/>
            <a:ext cx="15544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示意截图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147483647" y="2147483647"/>
            <a:ext cx="3200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数据可视化看板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147483647" y="2147483647"/>
            <a:ext cx="3200400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ECharts 三图表：使用率排行 / 热门时段 / 月度趋势，近 30 天与近 7 天联动刷新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34112000" y="75438000"/>
            <a:ext cx="5440680" cy="17830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34112000" y="75438000"/>
            <a:ext cx="1737360" cy="146304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147483647" y="2147483647"/>
            <a:ext cx="15544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示意截图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147483647" y="2147483647"/>
            <a:ext cx="3200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预约记录查询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147483647" y="2147483647"/>
            <a:ext cx="3200400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多条件筛选 + Excel 导出（Apache POI），支持权限与状态过滤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34112000" y="75438000"/>
            <a:ext cx="5440680" cy="17830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34112000" y="75438000"/>
            <a:ext cx="1737360" cy="146304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147483647" y="2147483647"/>
            <a:ext cx="15544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示意截图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147483647" y="2147483647"/>
            <a:ext cx="3200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教室资源 / 用户管理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147483647" y="2147483647"/>
            <a:ext cx="3200400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3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教室 CRUD、状态管理、批量操作；用户查询、禁用/启用、重置密码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2920" y="5623560"/>
            <a:ext cx="112014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250">
                <a:solidFill>
                  <a:srgbClr val="1F6FEB"/>
                </a:solidFill>
                <a:latin typeface="微软雅黑"/>
                <a:ea typeface="微软雅黑"/>
                <a:cs typeface="微软雅黑"/>
                <a:sym typeface="微软雅黑"/>
              </a:rPr>
              <a:t>AI 交互：审核页「AI 校验」标签辅助人工审核，降低漏审风险；审核动作仍由管理员手动执行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oundRect">
            <a:avLst>
              <a:gd name="adj" fmla="val 0"/>
            </a:avLst>
          </a:prstGeom>
          <a:solidFill>
            <a:srgbClr val="0A25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12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测试与质量保障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512064"/>
            <a:ext cx="10058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150">
                <a:solidFill>
                  <a:srgbClr val="C9D8F0"/>
                </a:solidFill>
                <a:latin typeface="微软雅黑"/>
                <a:ea typeface="微软雅黑"/>
                <a:cs typeface="微软雅黑"/>
                <a:sym typeface="微软雅黑"/>
              </a:rPr>
              <a:t>自动化回归 + 浏览器端到端 + 降级三场景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2920" y="1280160"/>
            <a:ext cx="3611880" cy="123444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2920" y="1280160"/>
            <a:ext cx="3611880" cy="73152"/>
          </a:xfrm>
          <a:prstGeom prst="roundRect">
            <a:avLst>
              <a:gd name="adj" fmla="val 0"/>
            </a:avLst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2920" y="1463040"/>
            <a:ext cx="36118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1F6FEB"/>
                </a:solidFill>
                <a:latin typeface="微软雅黑"/>
                <a:ea typeface="微软雅黑"/>
                <a:cs typeface="微软雅黑"/>
                <a:sym typeface="微软雅黑"/>
              </a:rPr>
              <a:t>210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2920" y="2011680"/>
            <a:ext cx="361188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2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R1-R6 基线用例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297680" y="1280160"/>
            <a:ext cx="3611880" cy="123444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297680" y="1280160"/>
            <a:ext cx="3611880" cy="73152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297680" y="1463040"/>
            <a:ext cx="36118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2E7D32"/>
                </a:solidFill>
                <a:latin typeface="微软雅黑"/>
                <a:ea typeface="微软雅黑"/>
                <a:cs typeface="微软雅黑"/>
                <a:sym typeface="微软雅黑"/>
              </a:rPr>
              <a:t>228/228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297680" y="2011680"/>
            <a:ext cx="361188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2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R7 交付配置全过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92440" y="1280160"/>
            <a:ext cx="3611880" cy="123444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92440" y="1280160"/>
            <a:ext cx="3611880" cy="73152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92440" y="1463040"/>
            <a:ext cx="36118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2E7D32"/>
                </a:solidFill>
                <a:latin typeface="微软雅黑"/>
                <a:ea typeface="微软雅黑"/>
                <a:cs typeface="微软雅黑"/>
                <a:sym typeface="微软雅黑"/>
              </a:rPr>
              <a:t>234/234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92440" y="2011680"/>
            <a:ext cx="361188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2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R7 联调模式全过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920" y="2743200"/>
            <a:ext cx="11201400" cy="146304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77240" y="2880360"/>
            <a:ext cx="1069848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覆盖体系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77240" y="3246120"/>
            <a:ext cx="1069848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正常流程：登录/浏览/预约/审核/取消/看板全链路；边界：跨天日期、冲突重叠、容量超限；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异常操作：重复提交、越权访问、非法参数、未授权调用；权限：角色矩阵逐接口校验；</a:t>
            </a:r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降级场景：无密钥 / 限流 429 / 超时 → 规则模拟降级输出可用（R8 浏览器实测验证）。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2920" y="4389120"/>
            <a:ext cx="11201400" cy="164592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77240" y="4526280"/>
            <a:ext cx="1069848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R8 浏览器端到端实测（本交付验证）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77240" y="4892040"/>
            <a:ext cx="1069848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标准演示 9 步全跑通：登录提醒 → 筛选 → 预约 → 冲突拦截 → 取消 → 审核(含批量) → 看板 → 日历；</a:t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AI 演示 4 步全跑通：推荐 Top3 → 快速预约解析提交 → 合规校验标签(含违规) → 悬浮助手问答；</a:t>
            </a:r>
          </a:p>
          <a:p>
            <a:pPr algn="l" marL="0" indent="0" defTabSz="45720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▪ 实测发现并修复 1 处缺陷（AI 快速预约冲突参数名），回归 228/234 全过；演示后已恢复初始基线。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14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841248"/>
          </a:xfrm>
          <a:prstGeom prst="roundRect">
            <a:avLst>
              <a:gd name="adj" fmla="val 0"/>
            </a:avLst>
          </a:prstGeom>
          <a:solidFill>
            <a:srgbClr val="0A25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841248"/>
            <a:ext cx="12191695" cy="41148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2920" y="146304"/>
            <a:ext cx="914400" cy="54864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600">
                <a:solidFill>
                  <a:srgbClr val="9FC4FF"/>
                </a:solidFill>
                <a:latin typeface="微软雅黑"/>
                <a:ea typeface="微软雅黑"/>
                <a:cs typeface="微软雅黑"/>
                <a:sym typeface="微软雅黑"/>
              </a:rPr>
              <a:t>13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118872"/>
            <a:ext cx="96012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总结与展望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2920" y="1280160"/>
            <a:ext cx="5486400" cy="393192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2920" y="1280160"/>
            <a:ext cx="5486400" cy="457200"/>
          </a:xfrm>
          <a:prstGeom prst="roundRect">
            <a:avLst>
              <a:gd name="adj" fmla="val 0"/>
            </a:avLst>
          </a:prstGeom>
          <a:solidFill>
            <a:srgbClr val="1F6F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5800" y="1353312"/>
            <a:ext cx="50292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项目总结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1520" y="1874519"/>
            <a:ext cx="5029200" cy="32004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900"/>
              </a:spcAft>
              <a:defRPr/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业务闭环完整：13 页、36 接口、五表，覆盖浏览→预约→冲突→审核→统计全链路</a:t>
            </a: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双重校验保障公平：前端体验 + 后端正确性双保险</a:t>
            </a: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AI 智能化调度：推荐/解析/合规/问答四场景，降级容错零翻车</a:t>
            </a: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Redis 加分项：Docker 容器化，会话可注销/单点，热门数据缓存 + 故障自动降级</a:t>
            </a: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工程质量可控：210+ 基线零回归，228/234 全过，浏览器端到端验证</a:t>
            </a: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交付自包含：代码 + 文档 + 演示脚本 + 基线数据，可复跑可验收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17920" y="1280160"/>
            <a:ext cx="5440680" cy="393192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17920" y="1280160"/>
            <a:ext cx="5440680" cy="4572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00800" y="1353312"/>
            <a:ext cx="50292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45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展望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46520" y="1874519"/>
            <a:ext cx="5029200" cy="320040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 defTabSz="457200">
              <a:lnSpc>
                <a:spcPct val="100000"/>
              </a:lnSpc>
              <a:spcAft>
                <a:spcPts val="900"/>
              </a:spcAft>
              <a:defRPr/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多校区/多楼栋资源调度：跨楼栋智能推荐与自动分配</a:t>
            </a: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更通用的大模型接入：随额度升级切换真实推理，降级引擎保持兜底</a:t>
            </a: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预约行为分析：为排课与资源扩容提供数据支撑</a:t>
            </a: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消息通知增强：微信/邮件提醒，减少爽约率</a:t>
            </a: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 defTabSz="457200">
              <a:lnSpc>
                <a:spcPct val="100000"/>
              </a:lnSpc>
              <a:spcAft>
                <a:spcPts val="900"/>
              </a:spcAft>
            </a:pPr>
            <a:r>
              <a:rPr lang="en-US" b="false" i="false" strike="noStrike" u="none" sz="125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▪ 引入分布式锁 / 消息队列，支撑更高并发与多校区调度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2920" y="5440680"/>
            <a:ext cx="11201400" cy="868680"/>
          </a:xfrm>
          <a:prstGeom prst="roundRect">
            <a:avLst>
              <a:gd name="adj" fmla="val 0"/>
            </a:avLst>
          </a:prstGeom>
          <a:solidFill>
            <a:srgbClr val="F2F6FC">
              <a:alpha val="100000"/>
            </a:srgbClr>
          </a:solidFill>
          <a:ln w="12700" cmpd="sng" cap="flat">
            <a:solidFill>
              <a:srgbClr val="D5E2F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77240" y="5577840"/>
            <a:ext cx="1069848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true" i="false" strike="noStrike" u="none" sz="1300">
                <a:solidFill>
                  <a:srgbClr val="0D47A1"/>
                </a:solidFill>
                <a:latin typeface="微软雅黑"/>
                <a:ea typeface="微软雅黑"/>
                <a:cs typeface="微软雅黑"/>
                <a:sym typeface="微软雅黑"/>
              </a:rPr>
              <a:t>致谢：感谢指导老师的悉心指导与团队协作。以上演示与材料基于 R1-R8 八轮迭代交付，测试数据与基线均可复现。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109960" y="6473952"/>
            <a:ext cx="822960" cy="274320"/>
          </a:xfrm>
          <a:prstGeom prst="rect">
            <a:avLst/>
          </a:prstGeom>
          <a:noFill/>
          <a:ln w="12687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 defTabSz="45720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b="false" i="false" strike="noStrike" u="none" sz="1000">
                <a:solidFill>
                  <a:srgbClr val="556B7E"/>
                </a:solidFill>
                <a:latin typeface="微软雅黑"/>
                <a:ea typeface="微软雅黑"/>
                <a:cs typeface="微软雅黑"/>
                <a:sym typeface="微软雅黑"/>
              </a:rPr>
              <a:t>15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888" y="6190807"/>
            <a:ext cx="1522412" cy="6671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
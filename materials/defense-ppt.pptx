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17720"/>
            <a:ext cx="12191695" cy="4572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51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C4FF"/>
                </a:solidFill>
                <a:latin typeface="微软雅黑"/>
                <a:ea typeface="微软雅黑"/>
              </a:rPr>
              <a:t>实训项目答辩 · 高校实验室预约管理系统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基于双重校验机制的高校</a:t>
            </a:r>
          </a:p>
          <a:p>
            <a:pPr algn="l">
              <a:spcAft>
                <a:spcPts val="10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实验室预约管理系统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D8F0"/>
                </a:solidFill>
                <a:latin typeface="微软雅黑"/>
                <a:ea typeface="微软雅黑"/>
              </a:rPr>
              <a:t>从资源管理工具到智能化资源调度服务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9D8F0"/>
                </a:solidFill>
                <a:latin typeface="微软雅黑"/>
                <a:ea typeface="微软雅黑"/>
              </a:rPr>
              <a:t>汇报人：________    指导老师：________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FC4FF"/>
                </a:solidFill>
                <a:latin typeface="微软雅黑"/>
                <a:ea typeface="微软雅黑"/>
              </a:rPr>
              <a:t>R8 答辩准备交付 ·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7160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26464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41732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D47A1"/>
                </a:solidFill>
                <a:latin typeface="微软雅黑"/>
                <a:ea typeface="微软雅黑"/>
              </a:rPr>
              <a:t>02 项目背景与痛点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157984"/>
            <a:ext cx="475488" cy="47548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20370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333333"/>
                </a:solidFill>
                <a:latin typeface="微软雅黑"/>
                <a:ea typeface="微软雅黑"/>
              </a:rPr>
              <a:t>03 技术选型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44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99923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90088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D47A1"/>
                </a:solidFill>
                <a:latin typeface="微软雅黑"/>
                <a:ea typeface="微软雅黑"/>
              </a:rPr>
              <a:t>04 总体架构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730752"/>
            <a:ext cx="475488" cy="47548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85616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333333"/>
                </a:solidFill>
                <a:latin typeface="微软雅黑"/>
                <a:ea typeface="微软雅黑"/>
              </a:rPr>
              <a:t>05 功能模块：13 页业务闭环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517136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7200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56285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D47A1"/>
                </a:solidFill>
                <a:latin typeface="微软雅黑"/>
                <a:ea typeface="微软雅黑"/>
              </a:rPr>
              <a:t>06 核心亮点一：前后端双重冲突校验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303520"/>
            <a:ext cx="475488" cy="47548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58384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492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333333"/>
                </a:solidFill>
                <a:latin typeface="微软雅黑"/>
                <a:ea typeface="微软雅黑"/>
              </a:rPr>
              <a:t>07 核心亮点二：AI 模块与降级容错</a:t>
            </a:r>
          </a:p>
        </p:txBody>
      </p:sp>
      <p:sp>
        <p:nvSpPr>
          <p:cNvPr id="25" name="Oval 24"/>
          <p:cNvSpPr/>
          <p:nvPr/>
        </p:nvSpPr>
        <p:spPr>
          <a:xfrm>
            <a:off x="6309359" y="1371600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799" y="1426464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39" y="141732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D47A1"/>
                </a:solidFill>
                <a:latin typeface="微软雅黑"/>
                <a:ea typeface="微软雅黑"/>
              </a:rPr>
              <a:t>08 AI 接入与实测说明</a:t>
            </a:r>
          </a:p>
        </p:txBody>
      </p:sp>
      <p:sp>
        <p:nvSpPr>
          <p:cNvPr id="28" name="Oval 27"/>
          <p:cNvSpPr/>
          <p:nvPr/>
        </p:nvSpPr>
        <p:spPr>
          <a:xfrm>
            <a:off x="6309359" y="2157984"/>
            <a:ext cx="475488" cy="47548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799" y="22128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39" y="220370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333333"/>
                </a:solidFill>
                <a:latin typeface="微软雅黑"/>
                <a:ea typeface="微软雅黑"/>
              </a:rPr>
              <a:t>09 关键设计决策</a:t>
            </a:r>
          </a:p>
        </p:txBody>
      </p:sp>
      <p:sp>
        <p:nvSpPr>
          <p:cNvPr id="31" name="Oval 30"/>
          <p:cNvSpPr/>
          <p:nvPr/>
        </p:nvSpPr>
        <p:spPr>
          <a:xfrm>
            <a:off x="6309359" y="294436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799" y="299923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39" y="2990088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D47A1"/>
                </a:solidFill>
                <a:latin typeface="微软雅黑"/>
                <a:ea typeface="微软雅黑"/>
              </a:rPr>
              <a:t>10 页面展示：学生端 / 管理端</a:t>
            </a:r>
          </a:p>
        </p:txBody>
      </p:sp>
      <p:sp>
        <p:nvSpPr>
          <p:cNvPr id="34" name="Oval 33"/>
          <p:cNvSpPr/>
          <p:nvPr/>
        </p:nvSpPr>
        <p:spPr>
          <a:xfrm>
            <a:off x="6309359" y="3730752"/>
            <a:ext cx="475488" cy="47548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799" y="3785616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39" y="377647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333333"/>
                </a:solidFill>
                <a:latin typeface="微软雅黑"/>
                <a:ea typeface="微软雅黑"/>
              </a:rPr>
              <a:t>11 测试与质量保障</a:t>
            </a:r>
          </a:p>
        </p:txBody>
      </p:sp>
      <p:sp>
        <p:nvSpPr>
          <p:cNvPr id="37" name="Oval 36"/>
          <p:cNvSpPr/>
          <p:nvPr/>
        </p:nvSpPr>
        <p:spPr>
          <a:xfrm>
            <a:off x="6309359" y="4517136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799" y="457200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39" y="456285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D47A1"/>
                </a:solidFill>
                <a:latin typeface="微软雅黑"/>
                <a:ea typeface="微软雅黑"/>
              </a:rPr>
              <a:t>12 总结与展望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项目背景与痛点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47A1"/>
                </a:solidFill>
                <a:latin typeface="微软雅黑"/>
                <a:ea typeface="微软雅黑"/>
              </a:rPr>
              <a:t>高校实验室/教室预约管理现状痛点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64008" cy="10515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55648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C62828"/>
                </a:solidFill>
                <a:latin typeface="微软雅黑"/>
                <a:ea typeface="微软雅黑"/>
              </a:rPr>
              <a:t>人工登记协调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066544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口头/纸质登记，靠人工查重，冲突靠经验判断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64008" cy="10515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755648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57C00"/>
                </a:solidFill>
                <a:latin typeface="微软雅黑"/>
                <a:ea typeface="微软雅黑"/>
              </a:rPr>
              <a:t>资源利用率低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66544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空闲信息不透明，热门教室扎堆、冷门教室闲置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80360"/>
            <a:ext cx="64008" cy="105156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2990088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57C00"/>
                </a:solidFill>
                <a:latin typeface="微软雅黑"/>
                <a:ea typeface="微软雅黑"/>
              </a:rPr>
              <a:t>审核无辅助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3300984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管理员逐条人工核验用途，漏审风险高、效率低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880360"/>
            <a:ext cx="54406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880360"/>
            <a:ext cx="64008" cy="1051560"/>
          </a:xfrm>
          <a:prstGeom prst="rect">
            <a:avLst/>
          </a:prstGeom>
          <a:solidFill>
            <a:srgbClr val="55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990088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556B7E"/>
                </a:solidFill>
                <a:latin typeface="微软雅黑"/>
                <a:ea typeface="微软雅黑"/>
              </a:rPr>
              <a:t>体验割裂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300984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学生与管理端流程割裂，状态不可追踪、无数据反馈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34840"/>
            <a:ext cx="11201400" cy="82296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9028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微软雅黑"/>
                <a:ea typeface="微软雅黑"/>
              </a:rPr>
              <a:t>立意拔高：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D47A1"/>
                </a:solidFill>
                <a:latin typeface="微软雅黑"/>
                <a:ea typeface="微软雅黑"/>
              </a:rPr>
              <a:t>本项目不止于“预约登记工具”，而是面向高校资源调度的智能化服务——以双重校验保障资源公平，以 AI 辅助提升调度效率与决策质量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864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556B7E"/>
                </a:solidFill>
                <a:latin typeface="微软雅黑"/>
                <a:ea typeface="微软雅黑"/>
              </a:rPr>
              <a:t>核心命题：如何用一套低成本、可落地、可复用的方案，让教室资源预约“公平、透明、高效、智能”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技术选型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版本选型话术：LTS 免费、生态成熟、前后端分离、可容器化交付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417320" cy="86868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3560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D47A1"/>
                </a:solidFill>
                <a:latin typeface="微软雅黑"/>
                <a:ea typeface="微软雅黑"/>
              </a:rPr>
              <a:t>后端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188720"/>
            <a:ext cx="4480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6272" y="1271016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33333"/>
                </a:solidFill>
                <a:latin typeface="微软雅黑"/>
                <a:ea typeface="微软雅黑"/>
              </a:rPr>
              <a:t>JDK 21 LTS + Spring Boot 3.2.10 + MyBatis-Plus 3.5.7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18872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2" y="1271016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LTS 免费长期维护；Spring Boot 3 生态成熟；MP 免写单表 CRUD，分页/条件构造内置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76272"/>
            <a:ext cx="1417320" cy="86868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231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D47A1"/>
                </a:solidFill>
                <a:latin typeface="微软雅黑"/>
                <a:ea typeface="微软雅黑"/>
              </a:rPr>
              <a:t>前端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2176272"/>
            <a:ext cx="4480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76272" y="2258568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33333"/>
                </a:solidFill>
                <a:latin typeface="微软雅黑"/>
                <a:ea typeface="微软雅黑"/>
              </a:rPr>
              <a:t>Vue 3.4 + Vite 5 + Element Plus 2.7.8 + ECharts 5.5 + FullCalendar 6.1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176272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258568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组合式 API 更易维护；Vite 冷启动秒级；Element Plus 组件成熟；图表/日历开箱即用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63824"/>
            <a:ext cx="1417320" cy="86868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1071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D47A1"/>
                </a:solidFill>
                <a:latin typeface="微软雅黑"/>
                <a:ea typeface="微软雅黑"/>
              </a:rPr>
              <a:t>数据库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3163824"/>
            <a:ext cx="4480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76272" y="324612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33333"/>
                </a:solidFill>
                <a:latin typeface="微软雅黑"/>
                <a:ea typeface="微软雅黑"/>
              </a:rPr>
              <a:t>MySQL 8.0（Docker 容器化，utf8mb4）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163824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8272" y="324612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稳定免费；utf8mb4 全中文支持；容器化便于环境复现与基线重置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151376"/>
            <a:ext cx="1417320" cy="86868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98264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D47A1"/>
                </a:solidFill>
                <a:latin typeface="微软雅黑"/>
                <a:ea typeface="微软雅黑"/>
              </a:rPr>
              <a:t>AI 能力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4151376"/>
            <a:ext cx="4480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76272" y="4233672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33333"/>
                </a:solidFill>
                <a:latin typeface="微软雅黑"/>
                <a:ea typeface="微软雅黑"/>
              </a:rPr>
              <a:t>Agnes AI agnes-2.0-flash（OpenAI v1 兼容，HTTP 调用）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4151376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8272" y="4233672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轻量场景化接入成本低；OpenAI 兼容格式通用可替换；配合本地规则降级引擎双保险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138928"/>
            <a:ext cx="1417320" cy="86868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8581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D47A1"/>
                </a:solidFill>
                <a:latin typeface="微软雅黑"/>
                <a:ea typeface="微软雅黑"/>
              </a:rPr>
              <a:t>工程配套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5138928"/>
            <a:ext cx="4480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76272" y="5221224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33333"/>
                </a:solidFill>
                <a:latin typeface="微软雅黑"/>
                <a:ea typeface="微软雅黑"/>
              </a:rPr>
              <a:t>Maven 3.9 / npm 8 / Git（GitHub 远程）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5138928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8272" y="522122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构建与版本管理规范，轮次增量可审计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总体架构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前后端分离 · 四层结构 · AI 低耦合可降级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8638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636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展示层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344168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Vue 3 + Element Plus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13 页业务页面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04872"/>
            <a:ext cx="78638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404872"/>
            <a:ext cx="1508760" cy="102412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3405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控制层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51460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Spring MVC · RESTful 35 接口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统一 Result 返回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75304"/>
            <a:ext cx="78638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508760" cy="10241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044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业务层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685032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Service 业务规则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状态机流转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45736"/>
            <a:ext cx="78638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45736"/>
            <a:ext cx="1508760" cy="102412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074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855464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MyBatis-Plus · MySQL 8.0（Docker）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微软雅黑"/>
                <a:ea typeface="微软雅黑"/>
              </a:rPr>
              <a:t>五表：用户/教室/预约/收藏/AI 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1234440"/>
            <a:ext cx="3017520" cy="1024128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137160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微软雅黑"/>
                <a:ea typeface="微软雅黑"/>
              </a:rPr>
              <a:t>横切关注点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69164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JWT 登录 · 统一返回
全局异常 · 权限矩阵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2560320"/>
            <a:ext cx="301752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F5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26974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F57C00"/>
                </a:solidFill>
                <a:latin typeface="微软雅黑"/>
                <a:ea typeface="微软雅黑"/>
              </a:rPr>
              <a:t>AI 能力模块（低耦合）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301752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4 只读接口 · 双开关
规则模拟降级引擎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7947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外部依赖：Agnes AI（OpenAI v1 兼容）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62828"/>
                </a:solidFill>
                <a:latin typeface="微软雅黑"/>
                <a:ea typeface="微软雅黑"/>
              </a:rPr>
              <a:t>失败/限流/无密钥 → 自动降级，核心系统零影响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43600"/>
            <a:ext cx="11201400" cy="566928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0533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D47A1"/>
                </a:solidFill>
                <a:latin typeface="微软雅黑"/>
                <a:ea typeface="微软雅黑"/>
              </a:rPr>
              <a:t>工程事实：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56B7E"/>
                </a:solidFill>
                <a:latin typeface="微软雅黑"/>
                <a:ea typeface="微软雅黑"/>
              </a:rPr>
              <a:t>13 页闭环 · 35 个接口（31 业务 + 4 AI 只读）· 五表 · 密码 BCrypt · JWT 登录 + 拦截器权限矩阵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功能模块：13 页业务闭环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公共 2 页 + 学生端 5 页 + 管理端 6 页，另含 4 处 AI 交互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6118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36118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5331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公共功能（2 页）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3200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双角色登录 + 学生注册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登录温和提醒（即将开始的预约）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36118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80160"/>
            <a:ext cx="361188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5331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学生端（5 页）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874519"/>
            <a:ext cx="3200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教室列表：多条件筛选/实时状态/条件记忆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教室详情：时段占用/收藏/预约申请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我的预约：状态分类/取消/今日置顶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个人中心：数据概览/常用教室/消息通知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日历总览：月周视图/点击快速预约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118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11880" cy="4572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5331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管理端（6 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874519"/>
            <a:ext cx="3200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后台首页：数据概览卡片/快捷入口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教室资源管理：CRUD/状态/批量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预约审核：通过/驳回/批量/快捷原因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用户管理：查询/禁用启用/重置密码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预约记录：多条件筛选/Excel 导出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3A4655"/>
                </a:solidFill>
                <a:latin typeface="微软雅黑"/>
                <a:ea typeface="微软雅黑"/>
              </a:rPr>
              <a:t>▪ 数据看板：ECharts 三图表联动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715000"/>
            <a:ext cx="11201400" cy="7772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微软雅黑"/>
                <a:ea typeface="微软雅黑"/>
              </a:rPr>
              <a:t>AI 交互：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D47A1"/>
                </a:solidFill>
                <a:latin typeface="微软雅黑"/>
                <a:ea typeface="微软雅黑"/>
              </a:rPr>
              <a:t>学生端 3 处（智能推荐 Top3 / 自然语言快速预约 / 全局悬浮助手）+ 管理端 1 处（审核页 AI 合规校验标签）——AI 只读不写，最终操作权始终在人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核心亮点一：前后端双重冲突校验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440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4406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6187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前端实时校验（第一道）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选择日期时段即调 /api/reservation/conflict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D47A1"/>
                </a:solidFill>
                <a:latin typeface="微软雅黑"/>
                <a:ea typeface="微软雅黑"/>
              </a:rPr>
              <a:t>▪ 重叠判定：新开始 &lt; 旧结束 且 新结束 &gt; 旧开始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冲突 → 红色提示 + 提交按钮禁用，输入即反馈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6B7E"/>
                </a:solidFill>
                <a:latin typeface="微软雅黑"/>
                <a:ea typeface="微软雅黑"/>
              </a:rPr>
              <a:t>▪ 实测：A201 教室 15:30-16:30 命中 15:00-17:00 已通过预约，实时拦截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440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440680" cy="4572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6187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后端兜底校验（第二道）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提交接口内事务校验，防绕过前端直调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与已通过(status=1)记录按公式再查一次库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冲突 → 业务异常拒绝，前端展示服务端消息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0D47A1"/>
                </a:solidFill>
                <a:latin typeface="微软雅黑"/>
                <a:ea typeface="微软雅黑"/>
              </a:rPr>
              <a:t>▪ 前后端公式一致，双重保障数据一致性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49039"/>
            <a:ext cx="11201400" cy="23774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微软雅黑"/>
                <a:ea typeface="微软雅黑"/>
              </a:rPr>
              <a:t>为什么是“双重”？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98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▪ 前端校验保证用户体验：选择即反馈，避免提交后才发现冲突；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▪ 后端校验保证业务正确：接口层兜底，任何绕过前端的请求都被拒绝；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▪ 工程配套：预约状态机 0 待审核/1 已通过/2 已驳回/3 已取消；取消时限 = 开始前 1 小时；批量审核仅限待审核。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核心亮点二：AI 模块与降级容错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AI 只读不写 · 双开关 · 规则模拟降级 · 场景绝对限定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517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265176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898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D47A1"/>
                </a:solidFill>
                <a:latin typeface="微软雅黑"/>
                <a:ea typeface="微软雅黑"/>
              </a:rPr>
              <a:t>智能推荐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916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80" b="0">
                <a:solidFill>
                  <a:srgbClr val="556B7E"/>
                </a:solidFill>
                <a:latin typeface="微软雅黑"/>
                <a:ea typeface="微软雅黑"/>
              </a:rPr>
              <a:t>历史习惯 + 实时空闲 → Top3 教室及理由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1234440"/>
            <a:ext cx="26517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1234440"/>
            <a:ext cx="265176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3898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D47A1"/>
                </a:solidFill>
                <a:latin typeface="微软雅黑"/>
                <a:ea typeface="微软雅黑"/>
              </a:rPr>
              <a:t>快速预约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916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80" b="0">
                <a:solidFill>
                  <a:srgbClr val="556B7E"/>
                </a:solidFill>
                <a:latin typeface="微软雅黑"/>
                <a:ea typeface="微软雅黑"/>
              </a:rPr>
              <a:t>自然语言 → 结构化参数预填（可手动修改）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234440"/>
            <a:ext cx="26517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234440"/>
            <a:ext cx="265176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13898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D47A1"/>
                </a:solidFill>
                <a:latin typeface="微软雅黑"/>
                <a:ea typeface="微软雅黑"/>
              </a:rPr>
              <a:t>合规校验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16916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80" b="0">
                <a:solidFill>
                  <a:srgbClr val="556B7E"/>
                </a:solidFill>
                <a:latin typeface="微软雅黑"/>
                <a:ea typeface="微软雅黑"/>
              </a:rPr>
              <a:t>用途关键词 → 通过/违规标签（只提示）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61704" y="1234440"/>
            <a:ext cx="26517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61704" y="1234440"/>
            <a:ext cx="265176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13898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D47A1"/>
                </a:solidFill>
                <a:latin typeface="微软雅黑"/>
                <a:ea typeface="微软雅黑"/>
              </a:rPr>
              <a:t>预约助手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16916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80" b="0">
                <a:solidFill>
                  <a:srgbClr val="556B7E"/>
                </a:solidFill>
                <a:latin typeface="微软雅黑"/>
                <a:ea typeface="微软雅黑"/>
              </a:rPr>
              <a:t>场景限定问答，无关问题预设话术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606040"/>
            <a:ext cx="2743200" cy="196596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7249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D47A1"/>
                </a:solidFill>
                <a:latin typeface="微软雅黑"/>
                <a:ea typeface="微软雅黑"/>
              </a:rPr>
              <a:t>双开关设计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035808"/>
            <a:ext cx="2423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yml ai.enable
AND
db ai_config.ai_enable
任一为 false 即关闭
一键可插拔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29000" y="2606040"/>
            <a:ext cx="4206240" cy="196596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272491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D47A1"/>
                </a:solidFill>
                <a:latin typeface="微软雅黑"/>
                <a:ea typeface="微软雅黑"/>
              </a:rPr>
              <a:t>降级容错引擎（演示主路径）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3035808"/>
            <a:ext cx="3931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推荐→规则打分 · 解析→正则模板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合规→关键词库 · 问答→FAQ 命中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C62828"/>
                </a:solidFill>
                <a:latin typeface="微软雅黑"/>
                <a:ea typeface="微软雅黑"/>
              </a:rPr>
              <a:t>超时/报错/限流/无密钥 → 自动降级，HTTP 200 输出可用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8120" y="2606040"/>
            <a:ext cx="3886200" cy="196596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72491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D47A1"/>
                </a:solidFill>
                <a:latin typeface="微软雅黑"/>
                <a:ea typeface="微软雅黑"/>
              </a:rPr>
              <a:t>场景限定 + 只读不写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3035808"/>
            <a:ext cx="3611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只答预约/教室/个人记录相关问题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56B7E"/>
                </a:solidFill>
                <a:latin typeface="微软雅黑"/>
                <a:ea typeface="微软雅黑"/>
              </a:rPr>
              <a:t>所有 AI 输出标注「AI 生成，仅供参考」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0D47A1"/>
                </a:solidFill>
                <a:latin typeface="微软雅黑"/>
                <a:ea typeface="微软雅黑"/>
              </a:rPr>
              <a:t>业务操作必须用户手动确认，AI 绝不代提交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800600"/>
            <a:ext cx="11201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93776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6FEB"/>
                </a:solidFill>
                <a:latin typeface="微软雅黑"/>
                <a:ea typeface="微软雅黑"/>
              </a:rPr>
              <a:t>演示口径（压轴：先业务闭环，再 AI 收尾）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34924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无密钥/限流时：规则模拟降级照常演示（即主路径），真实链路已单独实测验证——双保险、零翻车；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违规演示：临时改用途命中违规关键词 → 红色「AI 校验：违规」标签，只提示不改状态；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一键关闭：ai.enable=false → 完全退化纯预约系统，核心业务零影响（可插拔）。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AI 接入与实测说明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真实链路已验证 · 免费档限流自动降级 · 密钥零硬编码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48640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075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真实接入链路（OpenAI v1 兼容）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base-url / Bearer 认证 / 模型名 / 请求格式均按 OpenAI v1 标准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0D47A1"/>
                </a:solidFill>
                <a:latin typeface="微软雅黑"/>
                <a:ea typeface="微软雅黑"/>
              </a:rPr>
              <a:t>▪ 请求真实送达 Agnes 服务器并收到官方响应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ping 探活 200、解析接口 200 且 JSON 结构正确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2E7D32"/>
                </a:solidFill>
                <a:latin typeface="微软雅黑"/>
                <a:ea typeface="微软雅黑"/>
              </a:rPr>
              <a:t>▪ 链路上行正确性已实测确认，作为技术亮点写入报告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440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440680" cy="4572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075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免费档限流（实测 429）与降级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2880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C62828"/>
                </a:solidFill>
                <a:latin typeface="微软雅黑"/>
                <a:ea typeface="微软雅黑"/>
              </a:rPr>
              <a:t>▪ 免费档额度触达 rate limit（HTTP 429，提示升级）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触发 RPM≈20 限流保护，避免冲击第三方服务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自动切换本地规则模拟：输出可用、页面照常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0D47A1"/>
                </a:solidFill>
                <a:latin typeface="微软雅黑"/>
                <a:ea typeface="微软雅黑"/>
              </a:rPr>
              <a:t>▪ 口径：链路正确 + 限流极紧（单次/低频可用）+ 自动降级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06240"/>
            <a:ext cx="11201400" cy="19202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0D47A1"/>
                </a:solidFill>
                <a:latin typeface="微软雅黑"/>
                <a:ea typeface="微软雅黑"/>
              </a:rPr>
              <a:t>工程红线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▪ 密钥零硬编码：AGNES_API_KEY 仅环境变量注入，前端零接触密钥，交付物不出现密钥字样；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▪ AI 绝对只读不写：4 接口均为查询/解析/建议，业务写入必须走原审核/预约链路；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▪ 降级不阻断：AI 任何异常都不影响核心预约业务，可观测（data.message 透出原因）。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关键设计决策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可演进 · 可降级 · 可复现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870048000" y="1170578304000"/>
            <a:ext cx="5440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9870048000" y="1170578304000"/>
            <a:ext cx="64008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870249168" y="11705783954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AI 接入 = 轻量场景化真实接入 + 规则模拟兜底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870249168" y="1170578715480"/>
            <a:ext cx="5074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不为 AI 而 AI：先框定 4 个高价值场景，再接入轻量模型；大模型不可用时规则引擎保证能力可用，成本与风险可控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85666048000" y="1170578304000"/>
            <a:ext cx="5440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85666048000" y="1170578304000"/>
            <a:ext cx="64008" cy="13716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85666249168" y="11705783954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低耦合设计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5666249168" y="1170578715480"/>
            <a:ext cx="5074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AI 模块独立包结构 + 接口隔离；业务代码不感知 AI 存在，AI 失败不扩散——核心系统永远可用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870048000" y="2591993901600"/>
            <a:ext cx="5440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9870048000" y="2591993901600"/>
            <a:ext cx="64008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870249168" y="25919939930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双开关可插拔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870249168" y="2591994313080"/>
            <a:ext cx="5074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yml 静态开关 + 数据库动态开关（AND 关系）：演示/灰度/一键关闭纯业务模式，无需改代码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85666048000" y="2591993901600"/>
            <a:ext cx="5440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85666048000" y="2591993901600"/>
            <a:ext cx="64008" cy="13716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85666249168" y="25919939930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数据基线可复跑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5666249168" y="2591994313080"/>
            <a:ext cx="5074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五表初始基线固化（预约 13 四状态/教室 12/用户 5/收藏 6/AI 配置 5），演示测试可复跑、跑完恢复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870048000" y="4013411328000"/>
            <a:ext cx="5440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9870048000" y="4013411328000"/>
            <a:ext cx="64008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870249168" y="4013411419439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权限与安全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870249168" y="4013411739480"/>
            <a:ext cx="5074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JWT 登录 + 拦截器权限矩阵；密码 BCrypt；统一 Result/全局异常；关键操作二次确认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85666048000" y="4013411328000"/>
            <a:ext cx="5440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85666048000" y="4013411328000"/>
            <a:ext cx="64008" cy="13716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5666249168" y="4013411419439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前端体验优先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5666249168" y="4013411739480"/>
            <a:ext cx="5074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输入即校验（双重冲突第一道）、登录温和提醒、状态分类与今日置顶、看板联动反馈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页面展示（一）学生端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教室列表 + 详情预约 + 我的预约 + 日历总览 + AI 交互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870048000" y="1212384672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9870230880" y="1212384836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870340608" y="1212385293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872151120" y="1212384836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教室列表 + AI 为你推荐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72151120" y="1212385174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多条件筛选/实时状态标签；顶部 AI 推荐 Top3 卡片（含理由 +「AI 生成，仅供参考」）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85666048000" y="1212384672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85666230880" y="1212384836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85666340608" y="1212385293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85668151120" y="1212384836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教室详情与预约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5668151120" y="1212385174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时段占用可视化、收藏、预约申请；选择时段即触发前端冲突实时校验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870048000" y="3051864864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9870230880" y="3051865028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870340608" y="3051865485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872151120" y="3051865028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我的预约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872151120" y="3051865366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状态分类（今日置顶）、取消二次确认、开始前 1 小时限制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85666048000" y="3051864864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85666230880" y="3051865028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85666340608" y="3051865485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5668151120" y="3051865028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日历总览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85668151120" y="3051865366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FullCalendar 月/周视图，色块区分状态，点击日期直达快速预约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623560"/>
            <a:ext cx="11201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微软雅黑"/>
                <a:ea typeface="微软雅黑"/>
              </a:rPr>
              <a:t>AI 交互：推荐卡点击直达详情 · 「AI 快速预约」自然语言解析预填 · 右下角悬浮「AI 预约助手」场景问答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页面展示（二）管理端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审核 + 数据看板 + 预约记录导出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870048000" y="1212384672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9870230880" y="1212384836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870340608" y="1212385293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872151120" y="1212384836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预约审核 + AI 合规校验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72151120" y="1212385174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通过/驳回/批量审核/快捷驳回原因；待审核记录带「AI 校验」标签（违规红色高亮+原因，只提示不改状态）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85666048000" y="1212384672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85666230880" y="1212384836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85666340608" y="1212385293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85668151120" y="1212384836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数据可视化看板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5668151120" y="1212385174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ECharts 三图表：使用率排行 / 热门时段 / 月度趋势，近 30 天与近 7 天联动刷新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870048000" y="3051864864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9870230880" y="3051865028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870340608" y="3051865485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872151120" y="3051865028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预约记录查询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872151120" y="3051865366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多条件筛选 + Excel 导出（Apache POI），支持权限与状态过滤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85666048000" y="30518648640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85666230880" y="3051865028592"/>
            <a:ext cx="1737360" cy="146304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85666340608" y="30518654857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56B7E"/>
                </a:solidFill>
                <a:latin typeface="微软雅黑"/>
                <a:ea typeface="微软雅黑"/>
              </a:rPr>
              <a:t>示意截图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5668151120" y="3051865028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教室资源 / 用户管理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85668151120" y="305186536692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30" b="0">
                <a:solidFill>
                  <a:srgbClr val="556B7E"/>
                </a:solidFill>
                <a:latin typeface="微软雅黑"/>
                <a:ea typeface="微软雅黑"/>
              </a:rPr>
              <a:t>教室 CRUD、状态管理、批量操作；用户查询、禁用/启用、重置密码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623560"/>
            <a:ext cx="11201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微软雅黑"/>
                <a:ea typeface="微软雅黑"/>
              </a:rPr>
              <a:t>AI 交互：审核页「AI 校验」标签辅助人工审核，降低漏审风险；审核动作仍由管理员手动执行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测试与质量保障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120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8F0"/>
                </a:solidFill>
                <a:latin typeface="微软雅黑"/>
                <a:ea typeface="微软雅黑"/>
              </a:rPr>
              <a:t>自动化回归 + 浏览器端到端 + 降级三场景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361188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3611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6FEB"/>
                </a:solidFill>
                <a:latin typeface="微软雅黑"/>
                <a:ea typeface="微软雅黑"/>
              </a:rPr>
              <a:t>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1168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56B7E"/>
                </a:solidFill>
                <a:latin typeface="微软雅黑"/>
                <a:ea typeface="微软雅黑"/>
              </a:rPr>
              <a:t>R1-R6 基线用例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80160"/>
            <a:ext cx="361188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463040"/>
            <a:ext cx="3611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E7D32"/>
                </a:solidFill>
                <a:latin typeface="微软雅黑"/>
                <a:ea typeface="微软雅黑"/>
              </a:rPr>
              <a:t>228/228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1168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56B7E"/>
                </a:solidFill>
                <a:latin typeface="微软雅黑"/>
                <a:ea typeface="微软雅黑"/>
              </a:rPr>
              <a:t>R7 交付配置全过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1188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463040"/>
            <a:ext cx="3611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E7D32"/>
                </a:solidFill>
                <a:latin typeface="微软雅黑"/>
                <a:ea typeface="微软雅黑"/>
              </a:rPr>
              <a:t>234/234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01168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56B7E"/>
                </a:solidFill>
                <a:latin typeface="微软雅黑"/>
                <a:ea typeface="微软雅黑"/>
              </a:rPr>
              <a:t>R7 联调模式全过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43200"/>
            <a:ext cx="11201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88036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微软雅黑"/>
                <a:ea typeface="微软雅黑"/>
              </a:rPr>
              <a:t>覆盖体系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▪ 正常流程：登录/浏览/预约/审核/取消/看板全链路；边界：跨天日期、冲突重叠、容量超限；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▪ 异常操作：重复提交、越权访问、非法参数、未授权调用；权限：角色矩阵逐接口校验；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▪ 降级场景：无密钥 / 限流 429 / 超时 → 规则模拟降级输出可用（R8 浏览器实测验证）。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389120"/>
            <a:ext cx="11201400" cy="164592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262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微软雅黑"/>
                <a:ea typeface="微软雅黑"/>
              </a:rPr>
              <a:t>R8 浏览器端到端实测（本交付验证）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9204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▪ 标准演示 9 步全跑通：登录提醒 → 筛选 → 预约 → 冲突拦截 → 取消 → 审核(含批量) → 看板 → 日历；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▪ AI 演示 4 步全跑通：推荐 Top3 → 快速预约解析提交 → 合规校验标签(含违规) → 悬浮助手问答；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0D47A1"/>
                </a:solidFill>
                <a:latin typeface="微软雅黑"/>
                <a:ea typeface="微软雅黑"/>
              </a:rPr>
              <a:t>▪ 实测发现并修复 1 处缺陷（AI 快速预约冲突参数名），回归 228/234 全过；演示后已恢复初始基线。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A2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FC4FF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8872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总结与展望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项目总结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029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业务闭环完整：13 页、35 接口、五表，覆盖浏览→预约→冲突→审核→统计全链路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双重校验保障公平：前端体验 + 后端正确性双保险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AI 智能化调度：推荐/解析/合规/问答四场景，降级容错零翻车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工程质量可控：210+ 基线零回归，228/234 全过，浏览器端到端验证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交付自包含：代码 + 文档 + 演示脚本 + 基线数据，可复跑可验收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406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440680" cy="4572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5331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展望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29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多校区/多楼栋资源调度：跨楼栋智能推荐与自动分配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更通用的大模型接入：随额度升级切换真实推理，降级引擎保持兜底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预约行为分析：为排课与资源扩容提供数据支撑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▪ 消息通知增强：微信/邮件提醒，减少爽约率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440680"/>
            <a:ext cx="11201400" cy="868680"/>
          </a:xfrm>
          <a:prstGeom prst="rect">
            <a:avLst/>
          </a:prstGeom>
          <a:solidFill>
            <a:srgbClr val="F2F6FC"/>
          </a:solidFill>
          <a:ln w="12700">
            <a:solidFill>
              <a:srgbClr val="D5E2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D47A1"/>
                </a:solidFill>
                <a:latin typeface="微软雅黑"/>
                <a:ea typeface="微软雅黑"/>
              </a:rPr>
              <a:t>致谢：感谢指导老师的悉心指导与团队协作。以上演示与材料基于 R1-R8 八轮迭代交付，测试数据与基线均可复现。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6B7E"/>
                </a:solidFill>
                <a:latin typeface="微软雅黑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